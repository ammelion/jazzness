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oper Hewitt Bold" charset="1" panose="00000000000000000000"/>
      <p:regular r:id="rId14"/>
    </p:embeddedFont>
    <p:embeddedFont>
      <p:font typeface="Cooper Hewitt" charset="1" panose="000000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  <p:embeddedFont>
      <p:font typeface="The Seasons Bold" charset="1" panose="00000000000000000000"/>
      <p:regular r:id="rId18"/>
    </p:embeddedFont>
    <p:embeddedFont>
      <p:font typeface="Fredoka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21141" y="1281166"/>
            <a:ext cx="1028024" cy="1035555"/>
          </a:xfrm>
          <a:custGeom>
            <a:avLst/>
            <a:gdLst/>
            <a:ahLst/>
            <a:cxnLst/>
            <a:rect r="r" b="b" t="t" l="l"/>
            <a:pathLst>
              <a:path h="1035555" w="1028024">
                <a:moveTo>
                  <a:pt x="0" y="0"/>
                </a:moveTo>
                <a:lnTo>
                  <a:pt x="1028024" y="0"/>
                </a:lnTo>
                <a:lnTo>
                  <a:pt x="1028024" y="1035554"/>
                </a:lnTo>
                <a:lnTo>
                  <a:pt x="0" y="103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20544" y="2782907"/>
            <a:ext cx="3073241" cy="3073241"/>
          </a:xfrm>
          <a:custGeom>
            <a:avLst/>
            <a:gdLst/>
            <a:ahLst/>
            <a:cxnLst/>
            <a:rect r="r" b="b" t="t" l="l"/>
            <a:pathLst>
              <a:path h="3073241" w="3073241">
                <a:moveTo>
                  <a:pt x="0" y="0"/>
                </a:moveTo>
                <a:lnTo>
                  <a:pt x="3073241" y="0"/>
                </a:lnTo>
                <a:lnTo>
                  <a:pt x="3073241" y="3073242"/>
                </a:lnTo>
                <a:lnTo>
                  <a:pt x="0" y="30732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32166" y="2782907"/>
            <a:ext cx="3287796" cy="3073241"/>
          </a:xfrm>
          <a:custGeom>
            <a:avLst/>
            <a:gdLst/>
            <a:ahLst/>
            <a:cxnLst/>
            <a:rect r="r" b="b" t="t" l="l"/>
            <a:pathLst>
              <a:path h="3073241" w="3287796">
                <a:moveTo>
                  <a:pt x="0" y="0"/>
                </a:moveTo>
                <a:lnTo>
                  <a:pt x="3287796" y="0"/>
                </a:lnTo>
                <a:lnTo>
                  <a:pt x="3287796" y="3073242"/>
                </a:lnTo>
                <a:lnTo>
                  <a:pt x="0" y="3073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470" r="0" b="-119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07192" y="3343156"/>
            <a:ext cx="11073615" cy="180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4"/>
              </a:lnSpc>
            </a:pPr>
            <a:r>
              <a:rPr lang="en-US" sz="3245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Reverse Engineering</a:t>
            </a:r>
            <a:r>
              <a:rPr lang="en-US" sz="3245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 and </a:t>
            </a:r>
            <a:r>
              <a:rPr lang="en-US" sz="3245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Emulation</a:t>
            </a:r>
            <a:r>
              <a:rPr lang="en-US" sz="3245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 of </a:t>
            </a:r>
          </a:p>
          <a:p>
            <a:pPr algn="ctr">
              <a:lnSpc>
                <a:spcPts val="4544"/>
              </a:lnSpc>
            </a:pPr>
            <a:r>
              <a:rPr lang="en-US" sz="3245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NES Hardware</a:t>
            </a:r>
            <a:r>
              <a:rPr lang="en-US" sz="3245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 with </a:t>
            </a:r>
          </a:p>
          <a:p>
            <a:pPr algn="ctr">
              <a:lnSpc>
                <a:spcPts val="4544"/>
              </a:lnSpc>
            </a:pPr>
            <a:r>
              <a:rPr lang="en-US" sz="3245">
                <a:solidFill>
                  <a:srgbClr val="343434"/>
                </a:solidFill>
                <a:latin typeface="Cooper Hewitt"/>
                <a:ea typeface="Cooper Hewitt"/>
                <a:cs typeface="Cooper Hewitt"/>
                <a:sym typeface="Cooper Hewitt"/>
              </a:rPr>
              <a:t>Integrated Debugger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8845" y="1522236"/>
            <a:ext cx="2368014" cy="79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9"/>
              </a:lnSpc>
            </a:pPr>
            <a:r>
              <a:rPr lang="en-US" sz="3069" spc="-187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MINI PROJECT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7390" y="6900582"/>
            <a:ext cx="6417763" cy="88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7"/>
              </a:lnSpc>
            </a:pPr>
            <a:r>
              <a:rPr lang="en-US" sz="2605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Ojas Kumar - 23bcs059</a:t>
            </a:r>
          </a:p>
          <a:p>
            <a:pPr algn="just">
              <a:lnSpc>
                <a:spcPts val="3647"/>
              </a:lnSpc>
            </a:pPr>
            <a:r>
              <a:rPr lang="en-US" sz="2605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Talatiya Mitraj - 23bcs092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09421" y="6900582"/>
            <a:ext cx="5384365" cy="43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1"/>
              </a:lnSpc>
            </a:pPr>
            <a:r>
              <a:rPr lang="en-US" sz="2608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Mentor/Guide - Dr. Sonika Gupta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47004" y="5143500"/>
            <a:ext cx="3812296" cy="3342113"/>
          </a:xfrm>
          <a:custGeom>
            <a:avLst/>
            <a:gdLst/>
            <a:ahLst/>
            <a:cxnLst/>
            <a:rect r="r" b="b" t="t" l="l"/>
            <a:pathLst>
              <a:path h="3342113" w="3812296">
                <a:moveTo>
                  <a:pt x="0" y="0"/>
                </a:moveTo>
                <a:lnTo>
                  <a:pt x="3812296" y="0"/>
                </a:lnTo>
                <a:lnTo>
                  <a:pt x="3812296" y="3342113"/>
                </a:lnTo>
                <a:lnTo>
                  <a:pt x="0" y="3342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47004" y="1485900"/>
            <a:ext cx="3812296" cy="2859222"/>
          </a:xfrm>
          <a:custGeom>
            <a:avLst/>
            <a:gdLst/>
            <a:ahLst/>
            <a:cxnLst/>
            <a:rect r="r" b="b" t="t" l="l"/>
            <a:pathLst>
              <a:path h="2859222" w="3812296">
                <a:moveTo>
                  <a:pt x="0" y="0"/>
                </a:moveTo>
                <a:lnTo>
                  <a:pt x="3812296" y="0"/>
                </a:lnTo>
                <a:lnTo>
                  <a:pt x="3812296" y="2859222"/>
                </a:lnTo>
                <a:lnTo>
                  <a:pt x="0" y="2859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840297"/>
            <a:ext cx="10550186" cy="392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72"/>
              </a:lnSpc>
            </a:pP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Emulation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is a core area of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systems programming and reverse engineering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, allowing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legacy hardware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to be replicated in software. The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Nintendo Entertainment System (NES)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launched in the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1980s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, is one of the most studied consoles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(CPU 6502)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due to its influence on computer architecture and gaming history.</a:t>
            </a:r>
          </a:p>
          <a:p>
            <a:pPr algn="just">
              <a:lnSpc>
                <a:spcPts val="3472"/>
              </a:lnSpc>
            </a:pPr>
          </a:p>
          <a:p>
            <a:pPr algn="just">
              <a:lnSpc>
                <a:spcPts val="3472"/>
              </a:lnSpc>
            </a:pP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So,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how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can legacy hardware (NES) be reverse engineered and emulated in Rust while also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providing modern debugging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</a:t>
            </a:r>
            <a:r>
              <a:rPr lang="en-US" sz="2480" b="true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profiling features</a:t>
            </a:r>
            <a:r>
              <a:rPr lang="en-US" sz="248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to enhance usability for both learners and developers?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05836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0304" y="3182058"/>
            <a:ext cx="6407340" cy="4789325"/>
          </a:xfrm>
          <a:custGeom>
            <a:avLst/>
            <a:gdLst/>
            <a:ahLst/>
            <a:cxnLst/>
            <a:rect r="r" b="b" t="t" l="l"/>
            <a:pathLst>
              <a:path h="4789325" w="6407340">
                <a:moveTo>
                  <a:pt x="0" y="0"/>
                </a:moveTo>
                <a:lnTo>
                  <a:pt x="6407340" y="0"/>
                </a:lnTo>
                <a:lnTo>
                  <a:pt x="6407340" y="4789325"/>
                </a:lnTo>
                <a:lnTo>
                  <a:pt x="0" y="4789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357491"/>
            <a:ext cx="70726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222" y="3124908"/>
            <a:ext cx="8551778" cy="574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2599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 </a:t>
            </a:r>
            <a:r>
              <a:rPr lang="en-US" b="true" sz="2976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study</a:t>
            </a: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and reverse engineer the </a:t>
            </a:r>
            <a:r>
              <a:rPr lang="en-US" b="true" sz="2976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NES hardware architecture</a:t>
            </a: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(CPU, PPU, APU, Memory Bus)</a:t>
            </a:r>
          </a:p>
          <a:p>
            <a:pPr algn="just" marL="642599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 design and implement an emulator in </a:t>
            </a:r>
            <a:r>
              <a:rPr lang="en-US" b="true" sz="2976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Rust</a:t>
            </a: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with modular and extensible architecture.</a:t>
            </a:r>
          </a:p>
          <a:p>
            <a:pPr algn="just" marL="642599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 </a:t>
            </a:r>
            <a:r>
              <a:rPr lang="en-US" b="true" sz="2976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integrate a monitor/debugger</a:t>
            </a: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supporting instruction tracing, breakpoints and profiling</a:t>
            </a:r>
          </a:p>
          <a:p>
            <a:pPr algn="just" marL="642599" indent="-321300" lvl="1">
              <a:lnSpc>
                <a:spcPts val="4166"/>
              </a:lnSpc>
              <a:buFont typeface="Arial"/>
              <a:buChar char="•"/>
            </a:pP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To </a:t>
            </a:r>
            <a:r>
              <a:rPr lang="en-US" b="true" sz="2976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analyze performance and correctness</a:t>
            </a:r>
            <a:r>
              <a:rPr lang="en-US" sz="2976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of the emulator against existing test ROMs.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394411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57560"/>
            <a:ext cx="6423468" cy="167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443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PROPOSED SOLUTION &amp; 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2061" y="2700177"/>
            <a:ext cx="9873649" cy="6781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1863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Literature Survey &amp; Reverse Engineering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Study NES Architecture (6502 CPU, PPU, APU)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Review existing emulators (FCEUX, Nestopia, Mesen) to identify strengths and limitations</a:t>
            </a:r>
          </a:p>
          <a:p>
            <a:pPr algn="just" marL="491863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Design &amp; Implementation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Implement CPU instructions set and memory bus using Rust structs and enums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Simulate PPU (video rendering) and APU (sound) subsystems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Develop modular architecture seperating core emulation and debugging tools.</a:t>
            </a:r>
          </a:p>
          <a:p>
            <a:pPr algn="just" marL="491863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Debugger &amp; Monitoring System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Build Step-Through execution engine with breakpoints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Collect statistics (instruction frequency, CPU/GPU cycles, memory usage).</a:t>
            </a:r>
          </a:p>
          <a:p>
            <a:pPr algn="just" marL="491863" indent="-245932" lvl="1">
              <a:lnSpc>
                <a:spcPts val="3189"/>
              </a:lnSpc>
              <a:buFont typeface="Arial"/>
              <a:buChar char="•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Testing &amp; Validation</a:t>
            </a:r>
          </a:p>
          <a:p>
            <a:pPr algn="just" marL="983727" indent="-327909" lvl="2">
              <a:lnSpc>
                <a:spcPts val="3189"/>
              </a:lnSpc>
              <a:buFont typeface="Arial"/>
              <a:buChar char="⚬"/>
            </a:pPr>
            <a:r>
              <a:rPr lang="en-US" sz="2278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Run official NES test ROMs and compare behaviour with reference emulators.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75070" y="3607916"/>
            <a:ext cx="5484230" cy="3071169"/>
          </a:xfrm>
          <a:custGeom>
            <a:avLst/>
            <a:gdLst/>
            <a:ahLst/>
            <a:cxnLst/>
            <a:rect r="r" b="b" t="t" l="l"/>
            <a:pathLst>
              <a:path h="3071169" w="5484230">
                <a:moveTo>
                  <a:pt x="0" y="0"/>
                </a:moveTo>
                <a:lnTo>
                  <a:pt x="5484230" y="0"/>
                </a:lnTo>
                <a:lnTo>
                  <a:pt x="5484230" y="3071168"/>
                </a:lnTo>
                <a:lnTo>
                  <a:pt x="0" y="3071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22645" y="7120420"/>
            <a:ext cx="3389080" cy="78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74"/>
              </a:lnSpc>
              <a:spcBef>
                <a:spcPct val="0"/>
              </a:spcBef>
            </a:pPr>
            <a:r>
              <a:rPr lang="en-US" b="true" sz="4124">
                <a:solidFill>
                  <a:srgbClr val="343434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THE 6502 CPU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394411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19150"/>
            <a:ext cx="6836718" cy="88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443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OUR PROGRESS TILL DATE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5505" y="2009305"/>
            <a:ext cx="9282966" cy="7303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CPU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– Emulates the 6502 processor, running entirely in interpreted mode and lacking support for floating-point (BCD) operations.</a:t>
            </a:r>
          </a:p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Bus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– Acts as the communication backbone, connecting and synchronizing all NES components to operate in perfect cycle harmony.</a:t>
            </a:r>
          </a:p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PPU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(Picture Processing Unit) – Handles all graphical rendering for the NES, operating on a precise scanline-by-scanline basis.</a:t>
            </a:r>
          </a:p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Cartridge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– The game’s ROM module that loads the program data directly into the NES system.</a:t>
            </a:r>
          </a:p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JoyPad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– The iconic NES input controller, delivering classic and responsive player interaction.</a:t>
            </a:r>
          </a:p>
          <a:p>
            <a:pPr algn="just" marL="562635" indent="-281317" lvl="1">
              <a:lnSpc>
                <a:spcPts val="3648"/>
              </a:lnSpc>
              <a:buFont typeface="Arial"/>
              <a:buChar char="•"/>
            </a:pPr>
            <a:r>
              <a:rPr lang="en-US" b="true" sz="2605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APU</a:t>
            </a:r>
            <a:r>
              <a:rPr lang="en-US" sz="26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 (Audio Processing Unit) – Generates system audio, though sound remains partially distorted as the DMCA channel emulation is still in progress.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426625" y="3525855"/>
            <a:ext cx="7370828" cy="4318137"/>
          </a:xfrm>
          <a:custGeom>
            <a:avLst/>
            <a:gdLst/>
            <a:ahLst/>
            <a:cxnLst/>
            <a:rect r="r" b="b" t="t" l="l"/>
            <a:pathLst>
              <a:path h="4318137" w="7370828">
                <a:moveTo>
                  <a:pt x="0" y="0"/>
                </a:moveTo>
                <a:lnTo>
                  <a:pt x="7370828" y="0"/>
                </a:lnTo>
                <a:lnTo>
                  <a:pt x="7370828" y="4318137"/>
                </a:lnTo>
                <a:lnTo>
                  <a:pt x="0" y="4318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449" t="-2170" r="-4188" b="-217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394411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9483" y="3736829"/>
            <a:ext cx="6251511" cy="3896188"/>
          </a:xfrm>
          <a:custGeom>
            <a:avLst/>
            <a:gdLst/>
            <a:ahLst/>
            <a:cxnLst/>
            <a:rect r="r" b="b" t="t" l="l"/>
            <a:pathLst>
              <a:path h="3896188" w="6251511">
                <a:moveTo>
                  <a:pt x="0" y="0"/>
                </a:moveTo>
                <a:lnTo>
                  <a:pt x="6251511" y="0"/>
                </a:lnTo>
                <a:lnTo>
                  <a:pt x="6251511" y="3896188"/>
                </a:lnTo>
                <a:lnTo>
                  <a:pt x="0" y="3896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7777" y="819150"/>
            <a:ext cx="7190931" cy="1658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443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CHALLENGES FACED &amp; HOW WE ADDRESSED THEM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5111" y="3016654"/>
            <a:ext cx="9616008" cy="6241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1387" indent="-32069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Writing a Rust equivalent for every single 6502 CPU instruction was highly time-consuming and error-prone.</a:t>
            </a:r>
          </a:p>
          <a:p>
            <a:pPr algn="just" marL="641387" indent="-32069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The PPU (Picture Processing Unit) had complex addressing mechanisms, making accurate emulation difficult.</a:t>
            </a:r>
          </a:p>
          <a:p>
            <a:pPr algn="just" marL="641387" indent="-32069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Frequent program hangs occurred due to synchronization issues between CPU and PPU.</a:t>
            </a:r>
          </a:p>
          <a:p>
            <a:pPr algn="just" marL="641387" indent="-32069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Required a shift to a multithreaded architecture to maintain stability and responsiveness.</a:t>
            </a:r>
          </a:p>
          <a:p>
            <a:pPr algn="just" marL="641387" indent="-320693" lvl="1">
              <a:lnSpc>
                <a:spcPts val="4159"/>
              </a:lnSpc>
              <a:buFont typeface="Arial"/>
              <a:buChar char="•"/>
            </a:pPr>
            <a:r>
              <a:rPr lang="en-US" sz="297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Achieving cycle-accurate timing was essential to prevent graphical glitches and crashes.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394411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5983" y="3364461"/>
            <a:ext cx="6974066" cy="4640924"/>
          </a:xfrm>
          <a:custGeom>
            <a:avLst/>
            <a:gdLst/>
            <a:ahLst/>
            <a:cxnLst/>
            <a:rect r="r" b="b" t="t" l="l"/>
            <a:pathLst>
              <a:path h="4640924" w="6974066">
                <a:moveTo>
                  <a:pt x="0" y="0"/>
                </a:moveTo>
                <a:lnTo>
                  <a:pt x="6974066" y="0"/>
                </a:lnTo>
                <a:lnTo>
                  <a:pt x="6974066" y="4640924"/>
                </a:lnTo>
                <a:lnTo>
                  <a:pt x="0" y="4640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19150"/>
            <a:ext cx="6836718" cy="88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443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FUTURE WORK &amp; SCOPE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966217"/>
            <a:ext cx="9005372" cy="738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0393" indent="-350197" lvl="1">
              <a:lnSpc>
                <a:spcPts val="4541"/>
              </a:lnSpc>
              <a:buFont typeface="Arial"/>
              <a:buChar char="•"/>
            </a:pPr>
            <a:r>
              <a:rPr lang="en-US" sz="324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Implement the DMC (Delt</a:t>
            </a:r>
            <a:r>
              <a:rPr lang="en-US" sz="324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 Modulation Channel) to complete NES audio emulation.Implement the DMC (Delta Modulation Channel) to complete NES audio emulation.</a:t>
            </a:r>
          </a:p>
          <a:p>
            <a:pPr algn="just" marL="700393" indent="-350197" lvl="1">
              <a:lnSpc>
                <a:spcPts val="4541"/>
              </a:lnSpc>
              <a:buFont typeface="Arial"/>
              <a:buChar char="•"/>
            </a:pPr>
            <a:r>
              <a:rPr lang="en-US" sz="324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Add support for multiple cartridge mappers beyond the currently supported NROM.</a:t>
            </a:r>
          </a:p>
          <a:p>
            <a:pPr algn="just" marL="700393" indent="-350197" lvl="1">
              <a:lnSpc>
                <a:spcPts val="4541"/>
              </a:lnSpc>
              <a:buFont typeface="Arial"/>
              <a:buChar char="•"/>
            </a:pPr>
            <a:r>
              <a:rPr lang="en-US" sz="324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Develop a more graphically enhanced debugger for better real-time analysis and visualization.</a:t>
            </a:r>
          </a:p>
          <a:p>
            <a:pPr algn="just" marL="700393" indent="-350197" lvl="1">
              <a:lnSpc>
                <a:spcPts val="4541"/>
              </a:lnSpc>
              <a:buFont typeface="Arial"/>
              <a:buChar char="•"/>
            </a:pPr>
            <a:r>
              <a:rPr lang="en-US" sz="3244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Integrate a PPU tile viewer to inspect background and sprite rendering in detail.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85035" y="-3944111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8637" y="1203639"/>
            <a:ext cx="6836718" cy="88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14"/>
              </a:lnSpc>
            </a:pPr>
            <a:r>
              <a:rPr lang="en-US" sz="4438" b="true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REFERENCES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17877"/>
            <a:ext cx="14848314" cy="2941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Ricci, A., Programming the 6502, Sams Publishing, 1983</a:t>
            </a:r>
          </a:p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NESDev Wiki: https://www.nesdev.org/</a:t>
            </a:r>
          </a:p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Matt Godbolt, “6502 CPU Emulation in Practice,” IEEE Software, 2018</a:t>
            </a:r>
          </a:p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FCEUX Emulator Documentation: http://www.fceux.com/</a:t>
            </a:r>
          </a:p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NesDev Forums (community contributions on NES Architecture and emulation)</a:t>
            </a:r>
          </a:p>
          <a:p>
            <a:pPr algn="just" marL="605686" indent="-302843" lvl="1">
              <a:lnSpc>
                <a:spcPts val="3927"/>
              </a:lnSpc>
              <a:buFont typeface="Arial"/>
              <a:buChar char="•"/>
            </a:pPr>
            <a:r>
              <a:rPr lang="en-US" sz="2805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Rust Programming Language Book: https”//doc.rust-lang.org/book/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41169" y="7024626"/>
            <a:ext cx="11709629" cy="134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>
                <a:solidFill>
                  <a:srgbClr val="343434"/>
                </a:solidFill>
                <a:latin typeface="Fredoka"/>
                <a:ea typeface="Fredoka"/>
                <a:cs typeface="Fredoka"/>
                <a:sym typeface="Fredoka"/>
              </a:rPr>
              <a:t>WE THANK YOU FOR YOUR KIND ATTENTION</a:t>
            </a:r>
          </a:p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343434"/>
                </a:solidFill>
                <a:latin typeface="Fredoka"/>
                <a:ea typeface="Fredoka"/>
                <a:cs typeface="Fredoka"/>
                <a:sym typeface="Fredoka"/>
              </a:rPr>
              <a:t>WE WISH</a:t>
            </a:r>
            <a:r>
              <a:rPr lang="en-US" sz="3900">
                <a:solidFill>
                  <a:srgbClr val="343434"/>
                </a:solidFill>
                <a:latin typeface="Fredoka"/>
                <a:ea typeface="Fredoka"/>
                <a:cs typeface="Fredoka"/>
                <a:sym typeface="Fredoka"/>
              </a:rPr>
              <a:t> YOU A HAPPY DAY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DAG3njK3JrU</dc:identifier>
  <dcterms:modified xsi:type="dcterms:W3CDTF">2011-08-01T06:04:30Z</dcterms:modified>
  <cp:revision>1</cp:revision>
  <dc:title>Software</dc:title>
</cp:coreProperties>
</file>